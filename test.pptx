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f8f4f2b866421c" /><Relationship Type="http://schemas.openxmlformats.org/officeDocument/2006/relationships/extended-properties" Target="/docProps/app.xml" Id="Rf97501384b774c1b" /><Relationship Type="http://schemas.openxmlformats.org/officeDocument/2006/relationships/officeDocument" Target="/ppt/presentation.xml" Id="R0dfed9f04d384b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206101f4f441b"/>
  </p:sldMasterIdLst>
  <p:notesMasterIdLst>
    <p:notesMasterId xmlns:r="http://schemas.openxmlformats.org/officeDocument/2006/relationships" r:id="Rdc2e47deeaf74b5b"/>
  </p:notesMasterIdLst>
  <p:sldIdLst>
    <p:sldId xmlns:r="http://schemas.openxmlformats.org/officeDocument/2006/relationships" id="256" r:id="R17786bb54c394a51"/>
    <p:sldId xmlns:r="http://schemas.openxmlformats.org/officeDocument/2006/relationships" id="257" r:id="R423e7734d2644bbe"/>
    <p:sldId xmlns:r="http://schemas.openxmlformats.org/officeDocument/2006/relationships" id="258" r:id="R06e5acb95daf4071"/>
    <p:sldId xmlns:r="http://schemas.openxmlformats.org/officeDocument/2006/relationships" id="259" r:id="Rfc35d4b32aef4e93"/>
    <p:sldId xmlns:r="http://schemas.openxmlformats.org/officeDocument/2006/relationships" id="260" r:id="Rda29063d143649a4"/>
    <p:sldId xmlns:r="http://schemas.openxmlformats.org/officeDocument/2006/relationships" id="261" r:id="R97de9739013f4abb"/>
    <p:sldId xmlns:r="http://schemas.openxmlformats.org/officeDocument/2006/relationships" id="262" r:id="Rbea7187ba9cc4c70"/>
    <p:sldId xmlns:r="http://schemas.openxmlformats.org/officeDocument/2006/relationships" id="263" r:id="R465a423a085d42be"/>
    <p:sldId xmlns:r="http://schemas.openxmlformats.org/officeDocument/2006/relationships" id="264" r:id="Rf86f288e47e64f3c"/>
    <p:sldId xmlns:r="http://schemas.openxmlformats.org/officeDocument/2006/relationships" id="265" r:id="R04b294f326ff4a74"/>
    <p:sldId xmlns:r="http://schemas.openxmlformats.org/officeDocument/2006/relationships" id="266" r:id="Rd2ba3d5d2bdb4e45"/>
    <p:sldId xmlns:r="http://schemas.openxmlformats.org/officeDocument/2006/relationships" id="267" r:id="Rcf8805a9c019483a"/>
    <p:sldId xmlns:r="http://schemas.openxmlformats.org/officeDocument/2006/relationships" id="268" r:id="R13c0261bf20b4ea3"/>
    <p:sldId xmlns:r="http://schemas.openxmlformats.org/officeDocument/2006/relationships" id="269" r:id="R6be177b6f6bd41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e2b07e8a84c08" /><Relationship Type="http://schemas.openxmlformats.org/officeDocument/2006/relationships/slideMaster" Target="/ppt/slideMasters/slideMaster1.xml" Id="Rb10206101f4f441b" /><Relationship Type="http://schemas.openxmlformats.org/officeDocument/2006/relationships/notesMaster" Target="/ppt/notesMasters/notesMaster1.xml" Id="Rdc2e47deeaf74b5b" /><Relationship Type="http://schemas.openxmlformats.org/officeDocument/2006/relationships/presProps" Target="/ppt/presProps.xml" Id="Rcc8cfcb00c8a492e" /><Relationship Type="http://schemas.openxmlformats.org/officeDocument/2006/relationships/viewProps" Target="/ppt/viewProps.xml" Id="R023f375835334d9e" /><Relationship Type="http://schemas.openxmlformats.org/officeDocument/2006/relationships/tableStyles" Target="/ppt/tableStyles.xml" Id="R0d40a191aa9e4c80" /><Relationship Type="http://schemas.openxmlformats.org/officeDocument/2006/relationships/slide" Target="/ppt/slides/slide1.xml" Id="R17786bb54c394a51" /><Relationship Type="http://schemas.openxmlformats.org/officeDocument/2006/relationships/slide" Target="/ppt/slides/slide2.xml" Id="R423e7734d2644bbe" /><Relationship Type="http://schemas.openxmlformats.org/officeDocument/2006/relationships/slide" Target="/ppt/slides/slide3.xml" Id="R06e5acb95daf4071" /><Relationship Type="http://schemas.openxmlformats.org/officeDocument/2006/relationships/slide" Target="/ppt/slides/slide4.xml" Id="Rfc35d4b32aef4e93" /><Relationship Type="http://schemas.openxmlformats.org/officeDocument/2006/relationships/slide" Target="/ppt/slides/slide5.xml" Id="Rda29063d143649a4" /><Relationship Type="http://schemas.openxmlformats.org/officeDocument/2006/relationships/slide" Target="/ppt/slides/slide6.xml" Id="R97de9739013f4abb" /><Relationship Type="http://schemas.openxmlformats.org/officeDocument/2006/relationships/slide" Target="/ppt/slides/slide7.xml" Id="Rbea7187ba9cc4c70" /><Relationship Type="http://schemas.openxmlformats.org/officeDocument/2006/relationships/slide" Target="/ppt/slides/slide8.xml" Id="R465a423a085d42be" /><Relationship Type="http://schemas.openxmlformats.org/officeDocument/2006/relationships/slide" Target="/ppt/slides/slide9.xml" Id="Rf86f288e47e64f3c" /><Relationship Type="http://schemas.openxmlformats.org/officeDocument/2006/relationships/slide" Target="/ppt/slides/slide10.xml" Id="R04b294f326ff4a74" /><Relationship Type="http://schemas.openxmlformats.org/officeDocument/2006/relationships/slide" Target="/ppt/slides/slide11.xml" Id="Rd2ba3d5d2bdb4e45" /><Relationship Type="http://schemas.openxmlformats.org/officeDocument/2006/relationships/slide" Target="/ppt/slides/slide12.xml" Id="Rcf8805a9c019483a" /><Relationship Type="http://schemas.openxmlformats.org/officeDocument/2006/relationships/slide" Target="/ppt/slides/slide13.xml" Id="R13c0261bf20b4ea3" /><Relationship Type="http://schemas.openxmlformats.org/officeDocument/2006/relationships/slide" Target="/ppt/slides/slide14.xml" Id="R6be177b6f6bd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c5318983b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e0353d8d244a43" /><Relationship Type="http://schemas.openxmlformats.org/officeDocument/2006/relationships/notesMaster" Target="/ppt/notesMasters/notesMaster1.xml" Id="R056c60b9497e4a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3c6bc781f44a42" /><Relationship Type="http://schemas.openxmlformats.org/officeDocument/2006/relationships/notesMaster" Target="/ppt/notesMasters/notesMaster1.xml" Id="R594bee90af7544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01812b93424b71" /><Relationship Type="http://schemas.openxmlformats.org/officeDocument/2006/relationships/notesMaster" Target="/ppt/notesMasters/notesMaster1.xml" Id="R0e4fd976e12f4c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3deafddabe42d8" /><Relationship Type="http://schemas.openxmlformats.org/officeDocument/2006/relationships/notesMaster" Target="/ppt/notesMasters/notesMaster1.xml" Id="R4fbdc285544a4c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78f68ded884488" /><Relationship Type="http://schemas.openxmlformats.org/officeDocument/2006/relationships/notesMaster" Target="/ppt/notesMasters/notesMaster1.xml" Id="Re532db31123841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c37603e574ae5" /><Relationship Type="http://schemas.openxmlformats.org/officeDocument/2006/relationships/notesMaster" Target="/ppt/notesMasters/notesMaster1.xml" Id="Rcf6456d08a1e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8288dc4d7f44a9" /><Relationship Type="http://schemas.openxmlformats.org/officeDocument/2006/relationships/notesMaster" Target="/ppt/notesMasters/notesMaster1.xml" Id="R10165a1166d7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9b1544806d43f5" /><Relationship Type="http://schemas.openxmlformats.org/officeDocument/2006/relationships/notesMaster" Target="/ppt/notesMasters/notesMaster1.xml" Id="R099f5e3f64414e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f11573defd4547" /><Relationship Type="http://schemas.openxmlformats.org/officeDocument/2006/relationships/notesMaster" Target="/ppt/notesMasters/notesMaster1.xml" Id="Rad795aa2c2754b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6da2bea4474c0d" /><Relationship Type="http://schemas.openxmlformats.org/officeDocument/2006/relationships/notesMaster" Target="/ppt/notesMasters/notesMaster1.xml" Id="R6cc403c1b6f34f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f9c77989b9415d" /><Relationship Type="http://schemas.openxmlformats.org/officeDocument/2006/relationships/notesMaster" Target="/ppt/notesMasters/notesMaster1.xml" Id="Rdbfcc883e9b94e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8132ca8d4a48e9" /><Relationship Type="http://schemas.openxmlformats.org/officeDocument/2006/relationships/notesMaster" Target="/ppt/notesMasters/notesMaster1.xml" Id="R6e2d39d794e44c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dc5f142e634320" /><Relationship Type="http://schemas.openxmlformats.org/officeDocument/2006/relationships/notesMaster" Target="/ppt/notesMasters/notesMaster1.xml" Id="Ra018ca7a018f47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a40a1eb4f54dcf" /><Relationship Type="http://schemas.openxmlformats.org/officeDocument/2006/relationships/notesMaster" Target="/ppt/notesMasters/notesMaster1.xml" Id="R752677c5c5d048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수업의 핵심은 AI를 무조건 믿거나 금지하는 것이 아니라, 작동 원리와 한계를 알고 책임 있게 활용하는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학생들에게 오늘 수업의 도착점을 안내합니다. 기술 기능보다 비판적 판단과 인간의 책임에 초점을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자동화가 AI인 것은 아닙니다. 결과만 보고 AI라고 단정하기보다, 데이터에서 학습해 예측하거나 분류하는지 살펴보게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AI는 하나의 단일 기술이 아닙니다. 학생이 데이터, 모델, 학습, 추론 네 단어의 관계를 자신의 예로 설명하게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‘매우 큰 자동완성’은 이해를 돕는 비유입니다. AI가 사람처럼 경험하고 이해한다고 단정하지 않도록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생성형 AI는 진실을 보장하도록 만들어진 사실 데이터베이스가 아닙니다. 중요한 주장과 출처는 반드시 별도로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A와 D는 고정 규칙으로 충분하고, B는 보통 인식 모델을 씁니다. C는 규칙과 AI 모두 가능하므로 설명만으로는 판단할 수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프롬프트는 마법 주문이 아니라 일을 명확히 설명하는 문서입니다. 결과물을 그대로 제출하지 않고 판단하고 수정할 여지를 남기게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직접 개선 프롬프트를 작성합니다. 교사는 목적, 대상, 조건, 형식, 검증 요소가 드러나는지 피드백합니다.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 과제의 핵심 숫자, 인용, 날짜, 고유명사는 원자료를 우선 확인합니다. 같은 AI에게 재질문하는 것만으로 교차 검증이 되지는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UNICEF의 아동 중심 AI 원칙과 KERIS 저작권 가이드를 청소년 실천 문장으로 재구성했습니다. 서비스별 이용 연령과 학교 규정을 수업 전에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동의와 개인정보, 허위 출처, 편향과 차별을 연결합니다. 단순한 사용 금지보다 위험을 줄이는 대안 행동을 찾도록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 ×. 2 친구 전화번호, 계정 비밀번호. 3 독립적인 신뢰 자료와 비교. 4 도움받은 범위를 밝히고 검증·수정한다.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학생들이 선언문을 함께 읽고 퇴실 티켓을 작성하며 수업을 마칩니다.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https://copyright.keris.or.kr/wft/viewBbsctt?pstId=PST202502260000000000001&amp;type=books</a:t>
            </a:r>
          </a:p>
          <a:p xmlns:a="http://schemas.openxmlformats.org/drawingml/2006/main">
            <a:r>
              <a:t>- https://www.unicef.org/innocenti/reports/adolescent-perspectives-artificial-intelligence-report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b775a761140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ba8817b8448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792ba1c1c40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2bb94928e44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95e436d4b49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40724c7474bb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fbdedc31442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ed89caf964e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bda11137749f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4fe7598b14a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35421e6c640f0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36938DA-3521-F57C-1CFA-EDF638F2C8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EDCD0A74-E742-0E6F-36F2-7E75C41B60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FF4A80E-0ABE-8C7A-DB78-0C15433936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9293DB0-861A-71DC-2382-4F6363F2B1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DA0EEFD2-6779-6B37-768B-B8A26A751A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D896498-C969-A622-3E70-CA4302947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5B22E221-574B-4B8A-0ECB-973B572644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053BFD2-924B-5EE0-4A9B-DFB25175B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6E5645C8-9240-3E92-B770-3F24D7AA2E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1CC7B96-23E7-E483-49F3-5B23303D9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9429B88-2D37-883D-C01C-04A2D2A99D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B744B1B-6C97-1BF9-4FE7-40D027FF53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00123A1-684E-453E-52AB-C0D284CE2B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8DEC514F-D4A0-836C-90D4-738277F098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7B2746F-E5EB-241F-2D00-58E795180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0E24539-19C3-C9AF-F259-17814E673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0CD7CDD-BA64-44F5-5CA9-BDA217304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441D9FD9-D10E-5307-85D7-EB75899418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AD51B619-BDD4-D76F-96F1-D094A00BA4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CBD4136-B128-F4A4-B96A-E7EE1BC0F7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6BCD531F-734D-2A5D-AE1E-F967279F07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F760C81-EFD2-4491-A3AB-5D8677B9F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DC766DF4-BAB0-1AA1-32A4-7C3575E6CE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7D4E27F-2DAC-183D-B249-D076FA5659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ECA97AE3-09C3-7C39-D856-45B634477AB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FE377BE2-B3C6-B8FB-0D00-01F2EA4FD92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C625109-70B7-C3C8-EC93-CED0B1FD0D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8EC811A1-B0F7-20E7-D22C-C57E6B4547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7B019C21-BC1F-A829-A521-D87C601AC2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87D4030-EADF-2A6D-DEFC-0712FE8A2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5218C8C6-02A5-7475-D5F6-A9C512E9BA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A0EE63AC-2195-83AF-FEF9-70F3B9E6B5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06969554-B265-DC6F-8E59-13CCFB255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88E9037B-F5A7-DFE3-9680-4EE0AA4313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F7599374-307C-218C-A59C-553FDC3CAF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B250878C-ED37-E9A1-7303-868B9F9FE2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FCB1F65-35C8-5F15-04C5-40A23E554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5A6FE7E-A3D5-F9D8-A804-494F1BCC47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8BFE8D86-0A4A-C65E-96E1-7857F7446B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0395EA9B-E4EC-1DB6-8155-7F02E25B2D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64C67164-26EA-F3A9-39E8-541A4A03DF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1D2500E6-28ED-C7F4-3549-4FB47E194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842ADC4-C8C1-3D6E-24B1-EFBEAE0BB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4E2ED19C-0A6D-F038-FE8A-C1DB1D03D0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F0E9AE3A-169E-910B-BB7E-C5DE85FAB9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08990D33-87FA-083A-881B-7B978F157E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A16CAD9A-3CB7-C219-B4B2-255AE4B0DB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7EE55F20-75FC-6946-C69F-B4B4871676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42604C9-1AC5-EBF7-D9E9-64E9C4BBD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B672E88-5B16-5F08-CC2A-AC7D0394EC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CEC357E-3DC9-85E6-4BB6-B5B1BD3811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FDFE68AA-1FB5-D893-F7F9-F698E63799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4FF9B49-EF98-CDDF-516B-C2E1D0BC4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CAE8AF49-6ACD-0C8E-5495-80B9023D9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069C769-3880-0249-8585-BE4B2902DA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4F0FF1D-6EB8-AE63-9827-6AEDDE739F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9860E06D-32BF-B71B-7DEB-247BF05AC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0946779-7B08-574D-CAF6-6D99975705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cd74f18a924cf8" /><Relationship Type="http://schemas.openxmlformats.org/officeDocument/2006/relationships/slideLayout" Target="/ppt/slideLayouts/slideLayout1.xml" Id="R0649e79d6ef741aa" /><Relationship Type="http://schemas.openxmlformats.org/officeDocument/2006/relationships/slideLayout" Target="/ppt/slideLayouts/slideLayout2.xml" Id="Rd0d10b9c7f3d41de" /><Relationship Type="http://schemas.openxmlformats.org/officeDocument/2006/relationships/slideLayout" Target="/ppt/slideLayouts/slideLayout3.xml" Id="R8ae14d04aaca487c" /><Relationship Type="http://schemas.openxmlformats.org/officeDocument/2006/relationships/slideLayout" Target="/ppt/slideLayouts/slideLayout4.xml" Id="R0b4e75dd3dd14724" /><Relationship Type="http://schemas.openxmlformats.org/officeDocument/2006/relationships/slideLayout" Target="/ppt/slideLayouts/slideLayout5.xml" Id="R5d0d10e0d41d43de" /><Relationship Type="http://schemas.openxmlformats.org/officeDocument/2006/relationships/slideLayout" Target="/ppt/slideLayouts/slideLayout6.xml" Id="Raf72b931410e4cbd" /><Relationship Type="http://schemas.openxmlformats.org/officeDocument/2006/relationships/slideLayout" Target="/ppt/slideLayouts/slideLayout7.xml" Id="R08b20ec1351f4a4d" /><Relationship Type="http://schemas.openxmlformats.org/officeDocument/2006/relationships/slideLayout" Target="/ppt/slideLayouts/slideLayout8.xml" Id="Rb9fb4bd21a674fba" /><Relationship Type="http://schemas.openxmlformats.org/officeDocument/2006/relationships/slideLayout" Target="/ppt/slideLayouts/slideLayout9.xml" Id="R8ff9a7a21f394a92" /><Relationship Type="http://schemas.openxmlformats.org/officeDocument/2006/relationships/slideLayout" Target="/ppt/slideLayouts/slideLayout10.xml" Id="Rfa45e83f6de64545" /><Relationship Type="http://schemas.openxmlformats.org/officeDocument/2006/relationships/slideLayout" Target="/ppt/slideLayouts/slideLayout11.xml" Id="R098d49a39c4940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B94DBC62-9D97-7B58-FEA3-C25CAF868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5AF3AB1-B44E-BDC7-F5FD-DE1505BBC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68D3F4C1-CF1F-C7E3-A9FC-4F556154BE7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F69E7A3-0420-1741-A898-F0991ADB264C}" type="datetimeFigureOut">
              <a:t>2026. 8. 23.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C1F26F1-5585-22FD-B312-9C891BA59D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D2691F2-7C68-03D8-0DE7-5A1003ABC5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BDABDDE-859F-4F4B-A196-613E93EB971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49e79d6ef741aa"/>
    <p:sldLayoutId xmlns:r="http://schemas.openxmlformats.org/officeDocument/2006/relationships" id="2147483650" r:id="Rd0d10b9c7f3d41de"/>
    <p:sldLayoutId xmlns:r="http://schemas.openxmlformats.org/officeDocument/2006/relationships" id="2147483651" r:id="R8ae14d04aaca487c"/>
    <p:sldLayoutId xmlns:r="http://schemas.openxmlformats.org/officeDocument/2006/relationships" id="2147483652" r:id="R0b4e75dd3dd14724"/>
    <p:sldLayoutId xmlns:r="http://schemas.openxmlformats.org/officeDocument/2006/relationships" id="2147483653" r:id="R5d0d10e0d41d43de"/>
    <p:sldLayoutId xmlns:r="http://schemas.openxmlformats.org/officeDocument/2006/relationships" id="2147483654" r:id="Raf72b931410e4cbd"/>
    <p:sldLayoutId xmlns:r="http://schemas.openxmlformats.org/officeDocument/2006/relationships" id="2147483655" r:id="R08b20ec1351f4a4d"/>
    <p:sldLayoutId xmlns:r="http://schemas.openxmlformats.org/officeDocument/2006/relationships" id="2147483656" r:id="Rb9fb4bd21a674fba"/>
    <p:sldLayoutId xmlns:r="http://schemas.openxmlformats.org/officeDocument/2006/relationships" id="2147483657" r:id="R8ff9a7a21f394a92"/>
    <p:sldLayoutId xmlns:r="http://schemas.openxmlformats.org/officeDocument/2006/relationships" id="2147483658" r:id="Rfa45e83f6de64545"/>
    <p:sldLayoutId xmlns:r="http://schemas.openxmlformats.org/officeDocument/2006/relationships" id="2147483659" r:id="R098d49a39c4940f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1da4711f44491" /><Relationship Type="http://schemas.openxmlformats.org/officeDocument/2006/relationships/notesSlide" Target="/ppt/notesSlides/notesSlide1.xml" Id="Rd5074cbd54cc4f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d93b7a56f4824" /><Relationship Type="http://schemas.openxmlformats.org/officeDocument/2006/relationships/notesSlide" Target="/ppt/notesSlides/notesSlide2.xml" Id="R83f04b4bd37d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48ca3107149b2" /><Relationship Type="http://schemas.openxmlformats.org/officeDocument/2006/relationships/notesSlide" Target="/ppt/notesSlides/notesSlide3.xml" Id="R44fa16b61ca045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86a8c30f34af8" /><Relationship Type="http://schemas.openxmlformats.org/officeDocument/2006/relationships/notesSlide" Target="/ppt/notesSlides/notesSlide4.xml" Id="R5252f93cc8f64e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60b202a8144a4" /><Relationship Type="http://schemas.openxmlformats.org/officeDocument/2006/relationships/notesSlide" Target="/ppt/notesSlides/notesSlide5.xml" Id="R7b8dd3116de844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dd27e4d254442" /><Relationship Type="http://schemas.openxmlformats.org/officeDocument/2006/relationships/notesSlide" Target="/ppt/notesSlides/notesSlide6.xml" Id="R4a038c7ec7ad40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0fef1e0d64494" /><Relationship Type="http://schemas.openxmlformats.org/officeDocument/2006/relationships/notesSlide" Target="/ppt/notesSlides/notesSlide7.xml" Id="Rfdab9d1e3ded48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12228f5d54bef" /><Relationship Type="http://schemas.openxmlformats.org/officeDocument/2006/relationships/notesSlide" Target="/ppt/notesSlides/notesSlide8.xml" Id="R92f303f9622147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bcc480264cb6" /><Relationship Type="http://schemas.openxmlformats.org/officeDocument/2006/relationships/notesSlide" Target="/ppt/notesSlides/notesSlide9.xml" Id="R990364cc952948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bb5acc4394892" /><Relationship Type="http://schemas.openxmlformats.org/officeDocument/2006/relationships/notesSlide" Target="/ppt/notesSlides/notesSlide10.xml" Id="R197fc8d0992042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f2cd201454010" /><Relationship Type="http://schemas.openxmlformats.org/officeDocument/2006/relationships/notesSlide" Target="/ppt/notesSlides/notesSlide11.xml" Id="R40353c973d554f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0daadd9984c6f" /><Relationship Type="http://schemas.openxmlformats.org/officeDocument/2006/relationships/notesSlide" Target="/ppt/notesSlides/notesSlide12.xml" Id="Rebf2ff99cdc74f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1a92b849b4a56" /><Relationship Type="http://schemas.openxmlformats.org/officeDocument/2006/relationships/notesSlide" Target="/ppt/notesSlides/notesSlide13.xml" Id="R423a6281454043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1c0280b8b4bea" /><Relationship Type="http://schemas.openxmlformats.org/officeDocument/2006/relationships/notesSlide" Target="/ppt/notesSlides/notesSlide14.xml" Id="Rf33ed6092dff41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청소년을 위한 인공지능 수업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생각하고 · 확인하고 · 책임 있게 활용하기</a:t>
            </a:r>
            <a:endParaRPr/>
          </a:p>
          <a:p xmlns:a="http://schemas.openxmlformats.org/drawingml/2006/main">
            <a:r>
              <a:t>중·고등학생 대상 수업용 프레젠테이션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배울 세 가지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AI와 생성형 AI를 자신의 말로 설명하기</a:t>
            </a:r>
            <a:endParaRPr/>
          </a:p>
          <a:p xmlns:a="http://schemas.openxmlformats.org/drawingml/2006/main">
            <a:r>
              <a:t>AI 결과가 틀리거나 치우칠 수 있는 이유 찾기</a:t>
            </a:r>
            <a:endParaRPr/>
          </a:p>
          <a:p xmlns:a="http://schemas.openxmlformats.org/drawingml/2006/main">
            <a:r>
              <a:t>질문하고, 검증하고, 수정하는 습관 만들기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AI는 하루 속에 있다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추천 — 동영상 · 음악 · 쇼핑</a:t>
            </a:r>
            <a:endParaRPr/>
          </a:p>
          <a:p xmlns:a="http://schemas.openxmlformats.org/drawingml/2006/main">
            <a:r>
              <a:t>인식 — 얼굴 · 음성 · 문자</a:t>
            </a:r>
            <a:endParaRPr/>
          </a:p>
          <a:p xmlns:a="http://schemas.openxmlformats.org/drawingml/2006/main">
            <a:r>
              <a:t>예측 — 날씨 · 교통 · 스팸</a:t>
            </a:r>
            <a:endParaRPr/>
          </a:p>
          <a:p xmlns:a="http://schemas.openxmlformats.org/drawingml/2006/main">
            <a:r>
              <a:t>생성 — 글 · 이미지 · 음악 · 코드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질문: 오늘 내가 만난 AI는 무엇이었나요?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AI는 데이터에서 배운다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— 배우는 데 사용하는 예시와 정보</a:t>
            </a:r>
            <a:endParaRPr/>
          </a:p>
          <a:p xmlns:a="http://schemas.openxmlformats.org/drawingml/2006/main">
            <a:r>
              <a:t>모델 — 입력을 출력으로 바꾸는 계산 구조</a:t>
            </a:r>
            <a:endParaRPr/>
          </a:p>
          <a:p xmlns:a="http://schemas.openxmlformats.org/drawingml/2006/main">
            <a:r>
              <a:t>학습 — 예시를 보며 모델의 값을 조정하는 과정</a:t>
            </a:r>
            <a:endParaRPr/>
          </a:p>
          <a:p xmlns:a="http://schemas.openxmlformats.org/drawingml/2006/main">
            <a:r>
              <a:t>추론 — 학습된 모델이 새 입력에 결과를 내는 과정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생성형 AI는 다음을 예측한다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</a:t>
            </a:r>
            <a:endParaRPr/>
          </a:p>
          <a:p xmlns:a="http://schemas.openxmlformats.org/drawingml/2006/main">
            <a:r>
              <a:t>↓</a:t>
            </a:r>
            <a:endParaRPr/>
          </a:p>
          <a:p xmlns:a="http://schemas.openxmlformats.org/drawingml/2006/main">
            <a:r>
              <a:t>작은 단위로 나누기</a:t>
            </a:r>
            <a:endParaRPr/>
          </a:p>
          <a:p xmlns:a="http://schemas.openxmlformats.org/drawingml/2006/main">
            <a:r>
              <a:t>↓</a:t>
            </a:r>
            <a:endParaRPr/>
          </a:p>
          <a:p xmlns:a="http://schemas.openxmlformats.org/drawingml/2006/main">
            <a:r>
              <a:t>학습한 패턴으로 다음 요소 예측</a:t>
            </a:r>
            <a:endParaRPr/>
          </a:p>
          <a:p xmlns:a="http://schemas.openxmlformats.org/drawingml/2006/main">
            <a:r>
              <a:t>↓</a:t>
            </a:r>
            <a:endParaRPr/>
          </a:p>
          <a:p xmlns:a="http://schemas.openxmlformats.org/drawingml/2006/main">
            <a:r>
              <a:t>반복해서 글 · 이미지 · 소리 생성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자연스러운 문장 ≠ 정확한 사실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그럴듯한 답도 틀릴 수 있다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데이터가 부족하거나 오래됐을 수 있다</a:t>
            </a:r>
            <a:endParaRPr/>
          </a:p>
          <a:p xmlns:a="http://schemas.openxmlformats.org/drawingml/2006/main">
            <a:r>
              <a:t>학습 데이터가 특정 관점에 치우칠 수 있다</a:t>
            </a:r>
            <a:endParaRPr/>
          </a:p>
          <a:p xmlns:a="http://schemas.openxmlformats.org/drawingml/2006/main">
            <a:r>
              <a:t>모호한 질문은 모호한 결과를 만든다</a:t>
            </a:r>
            <a:endParaRPr/>
          </a:p>
          <a:p xmlns:a="http://schemas.openxmlformats.org/drawingml/2006/main">
            <a:r>
              <a:t>출처 · 숫자 · 인용을 지어낼 수 있다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신호: 근거 없음 · 과도한 확신 · 답변의 잦은 변화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 1 — 사람·규칙·AI 구분하기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A. 체온이 38도 이상이면 ‘주의’라고 표시한다</a:t>
            </a:r>
            <a:endParaRPr/>
          </a:p>
          <a:p xmlns:a="http://schemas.openxmlformats.org/drawingml/2006/main">
            <a:r>
              <a:t>B. 사진 속 고양이와 강아지를 구분한다</a:t>
            </a:r>
            <a:endParaRPr/>
          </a:p>
          <a:p xmlns:a="http://schemas.openxmlformats.org/drawingml/2006/main">
            <a:r>
              <a:t>C. 오답 기록을 보고 다음 문제를 추천한다</a:t>
            </a:r>
            <a:endParaRPr/>
          </a:p>
          <a:p xmlns:a="http://schemas.openxmlformats.org/drawingml/2006/main">
            <a:r>
              <a:t>D. 매일 오전 8시에 정해진 문장을 전송한다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분류: 단순 규칙 / AI 가능성 큼 / 판단 불가</a:t>
            </a:r>
            <a:endParaRPr/>
          </a:p>
          <a:p xmlns:a="http://schemas.openxmlformats.org/drawingml/2006/main">
            <a:r>
              <a:t>정답보다 중요한 것: 판단 근거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좋은 프롬프트는 사고의 설계도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 — 무엇을 하려는가?</a:t>
            </a:r>
            <a:endParaRPr/>
          </a:p>
          <a:p xmlns:a="http://schemas.openxmlformats.org/drawingml/2006/main">
            <a:r>
              <a:t>맥락 — 누구를 위한가?</a:t>
            </a:r>
            <a:endParaRPr/>
          </a:p>
          <a:p xmlns:a="http://schemas.openxmlformats.org/drawingml/2006/main">
            <a:r>
              <a:t>조건 — 범위 · 길이 · 금지사항은?</a:t>
            </a:r>
            <a:endParaRPr/>
          </a:p>
          <a:p xmlns:a="http://schemas.openxmlformats.org/drawingml/2006/main">
            <a:r>
              <a:t>형식 — 표 · 목록 · 문단 중 무엇인가?</a:t>
            </a:r>
            <a:endParaRPr/>
          </a:p>
          <a:p xmlns:a="http://schemas.openxmlformats.org/drawingml/2006/main">
            <a:r>
              <a:t>검증 — 불확실성과 확인 방법을 요청했는가?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기억하기: 목 · 맥 · 조 · 형 · 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 2 — 한 줄 요청 바꾸기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요청</a:t>
            </a:r>
            <a:endParaRPr/>
          </a:p>
          <a:p xmlns:a="http://schemas.openxmlformats.org/drawingml/2006/main">
            <a:r>
              <a:t>“환경 문제 발표문 써 줘.”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개선할 내용</a:t>
            </a:r>
            <a:endParaRPr/>
          </a:p>
          <a:p xmlns:a="http://schemas.openxmlformats.org/drawingml/2006/main">
            <a:r>
              <a:t>발표 목적과 청중은?</a:t>
            </a:r>
            <a:endParaRPr/>
          </a:p>
          <a:p xmlns:a="http://schemas.openxmlformats.org/drawingml/2006/main">
            <a:r>
              <a:t>주제 범위와 길이는?</a:t>
            </a:r>
            <a:endParaRPr/>
          </a:p>
          <a:p xmlns:a="http://schemas.openxmlformats.org/drawingml/2006/main">
            <a:r>
              <a:t>원하는 형식은?</a:t>
            </a:r>
            <a:endParaRPr/>
          </a:p>
          <a:p xmlns:a="http://schemas.openxmlformats.org/drawingml/2006/main">
            <a:r>
              <a:t>어떤 사실을 어떻게 확인할까?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짝과 바꿔 읽고 한 번 더 고치기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답변은 ‘주장 단위’로 검증한다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멈추기 — 자연스러움과 정확성을 구분한다</a:t>
            </a:r>
            <a:endParaRPr/>
          </a:p>
          <a:p xmlns:a="http://schemas.openxmlformats.org/drawingml/2006/main">
            <a:r>
              <a:t>2. 쪼개기 — 확인 가능한 주장으로 나눈다</a:t>
            </a:r>
            <a:endParaRPr/>
          </a:p>
          <a:p xmlns:a="http://schemas.openxmlformats.org/drawingml/2006/main">
            <a:r>
              <a:t>3. 확인하기 — 독립적인 신뢰 자료 2개 이상과 비교한다</a:t>
            </a:r>
            <a:endParaRPr/>
          </a:p>
          <a:p xmlns:a="http://schemas.openxmlformats.org/drawingml/2006/main">
            <a:r>
              <a:t>4. 기록하기 — 도구 · 질문 · 날짜 · 수정 내용을 남긴다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판정: 확인됨 / 일부 확인 / 근거 부족 / 틀림 / 최신 정보 필요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책임 있는 AI 사용, 여섯 약속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개인정보를 입력하지 않는다</a:t>
            </a:r>
            <a:endParaRPr/>
          </a:p>
          <a:p xmlns:a="http://schemas.openxmlformats.org/drawingml/2006/main">
            <a:r>
              <a:t>중요한 사실은 다시 확인한다</a:t>
            </a:r>
            <a:endParaRPr/>
          </a:p>
          <a:p xmlns:a="http://schemas.openxmlformats.org/drawingml/2006/main">
            <a:r>
              <a:t>편향과 고정관념을 살핀다</a:t>
            </a:r>
            <a:endParaRPr/>
          </a:p>
          <a:p xmlns:a="http://schemas.openxmlformats.org/drawingml/2006/main">
            <a:r>
              <a:t>저작권과 출처를 존중한다</a:t>
            </a:r>
            <a:endParaRPr/>
          </a:p>
          <a:p xmlns:a="http://schemas.openxmlformats.org/drawingml/2006/main">
            <a:r>
              <a:t>최종 선택과 책임은 사람이 진다</a:t>
            </a:r>
            <a:endParaRPr/>
          </a:p>
          <a:p xmlns:a="http://schemas.openxmlformats.org/drawingml/2006/main">
            <a:r>
              <a:t>불편하거나 위험하면 멈추고 어른에게 알린다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 3 — 윤리 딜레마 회의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상황 1. 친구 사진을 AI에 올려 합성해도 될까?</a:t>
            </a:r>
            <a:endParaRPr/>
          </a:p>
          <a:p xmlns:a="http://schemas.openxmlformats.org/drawingml/2006/main">
            <a:r>
              <a:t>상황 2. 검색되지 않는 AI의 인용문을 써도 될까?</a:t>
            </a:r>
            <a:endParaRPr/>
          </a:p>
          <a:p xmlns:a="http://schemas.openxmlformats.org/drawingml/2006/main">
            <a:r>
              <a:t>상황 3. 성별에 따라 다른 진로 추천을 믿어도 될까?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각 상황에서 생각할 것</a:t>
            </a:r>
            <a:endParaRPr/>
          </a:p>
          <a:p xmlns:a="http://schemas.openxmlformats.org/drawingml/2006/main">
            <a:r>
              <a:t>누가 피해를 받을 수 있는가?</a:t>
            </a:r>
            <a:endParaRPr/>
          </a:p>
          <a:p xmlns:a="http://schemas.openxmlformats.org/drawingml/2006/main">
            <a:r>
              <a:t>무엇을 확인해야 하는가?</a:t>
            </a:r>
            <a:endParaRPr/>
          </a:p>
          <a:p xmlns:a="http://schemas.openxmlformats.org/drawingml/2006/main">
            <a:r>
              <a:t>더 안전한 대안은 무엇인가?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확인 퀴즈 — 내 판단 점검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문장이 자연스러우면 사실도 정확하다.  ○ / ×</a:t>
            </a:r>
            <a:endParaRPr/>
          </a:p>
          <a:p xmlns:a="http://schemas.openxmlformats.org/drawingml/2006/main">
            <a:r>
              <a:t>2. AI에 입력하면 안 되는 정보 두 가지는?</a:t>
            </a:r>
            <a:endParaRPr/>
          </a:p>
          <a:p xmlns:a="http://schemas.openxmlformats.org/drawingml/2006/main">
            <a:r>
              <a:t>   친구 전화번호 / 계정 비밀번호 / 공개 날씨 / 교과서 단원명</a:t>
            </a:r>
            <a:endParaRPr/>
          </a:p>
          <a:p xmlns:a="http://schemas.openxmlformats.org/drawingml/2006/main">
            <a:r>
              <a:t>3. 가장 좋은 검증 방법은?</a:t>
            </a:r>
            <a:endParaRPr/>
          </a:p>
          <a:p xmlns:a="http://schemas.openxmlformats.org/drawingml/2006/main">
            <a:r>
              <a:t>   같은 AI에게 재질문 / 독립적인 신뢰 자료와 비교</a:t>
            </a:r>
            <a:endParaRPr/>
          </a:p>
          <a:p xmlns:a="http://schemas.openxmlformats.org/drawingml/2006/main">
            <a:r>
              <a:t>4. 과제에 AI를 활용했다면 어떻게 해야 할까?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E12E5A0-1F67-531F-362A-BD557EE1FB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42900"/>
            <a:ext cx="1051560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AI는 생각을 넓히는 도구다</a:t>
            </a:r>
            <a:endParaRPr/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654988AF-7DEF-6567-98C5-7760FD289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23950" y="1809750"/>
            <a:ext cx="994410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나는 AI를 생각을 넓히는 도구로 사용한다.</a:t>
            </a:r>
            <a:endParaRPr/>
          </a:p>
          <a:p xmlns:a="http://schemas.openxmlformats.org/drawingml/2006/main">
            <a:r>
              <a:t>중요한 사실은 확인한다.</a:t>
            </a:r>
            <a:endParaRPr/>
          </a:p>
          <a:p xmlns:a="http://schemas.openxmlformats.org/drawingml/2006/main">
            <a:r>
              <a:t>개인정보와 타인의 권리를 지킨다.</a:t>
            </a:r>
            <a:endParaRPr/>
          </a:p>
          <a:p xmlns:a="http://schemas.openxmlformats.org/drawingml/2006/main">
            <a:r>
              <a:t>AI의 도움을 받은 범위를 밝힌다.</a:t>
            </a:r>
            <a:endParaRPr/>
          </a:p>
          <a:p xmlns:a="http://schemas.openxmlformats.org/drawingml/2006/main">
            <a:r>
              <a:t>결과에 대한 책임은 내가 진다.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퇴실 티켓</a:t>
            </a:r>
            <a:endParaRPr/>
          </a:p>
          <a:p xmlns:a="http://schemas.openxmlformats.org/drawingml/2006/main">
            <a:r>
              <a:t>새로 알게 된 것 1개 · 바꿀 행동 1개 · 아직 궁금한 것 1개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728871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2026-08-23T07:15:43.0780000Z</dcterms:created>
  <dcterms:modified xsi:type="dcterms:W3CDTF">2026-08-23T07:15:43.0780000Z</dcterms:modified>
</coreProperties>
</file>